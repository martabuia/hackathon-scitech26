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10287000" cx="18288000"/>
  <p:notesSz cx="6858000" cy="9144000"/>
  <p:embeddedFontLst>
    <p:embeddedFont>
      <p:font typeface="Arimo"/>
      <p:regular r:id="rId19"/>
      <p:bold r:id="rId20"/>
      <p:italic r:id="rId21"/>
      <p:boldItalic r:id="rId22"/>
    </p:embeddedFont>
    <p:embeddedFont>
      <p:font typeface="Poppins"/>
      <p:bold r:id="rId23"/>
      <p:boldItalic r:id="rId24"/>
    </p:embeddedFont>
    <p:embeddedFont>
      <p:font typeface="Barlow Condensed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bold.fntdata"/><Relationship Id="rId22" Type="http://schemas.openxmlformats.org/officeDocument/2006/relationships/font" Target="fonts/Arimo-boldItalic.fntdata"/><Relationship Id="rId21" Type="http://schemas.openxmlformats.org/officeDocument/2006/relationships/font" Target="fonts/Arimo-italic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BarlowCondensed-bold.fntdata"/><Relationship Id="rId25" Type="http://schemas.openxmlformats.org/officeDocument/2006/relationships/font" Target="fonts/BarlowCondensed-regular.fntdata"/><Relationship Id="rId28" Type="http://schemas.openxmlformats.org/officeDocument/2006/relationships/font" Target="fonts/BarlowCondensed-boldItalic.fntdata"/><Relationship Id="rId27" Type="http://schemas.openxmlformats.org/officeDocument/2006/relationships/font" Target="fonts/BarlowCondense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Arim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5a2e374d6573d8f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h5a2e374d6573d8f_0_1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76333bd39d4b9d4e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76333bd39d4b9d4e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76333bd39d4b9d4e_1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h76333bd39d4b9d4e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76333bd39d4b9d4e_1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h76333bd39d4b9d4e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2877a6a5d077e760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2877a6a5d077e76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76333bd39d4b9d4e_1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h76333bd39d4b9d4e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2877a6a5d077e76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h2877a6a5d077e7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2877a6a5d077e760_0_1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h2877a6a5d077e760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h2877a6a5d077e760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h2877a6a5d077e76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2877a6a5d077e760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h2877a6a5d077e76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2877a6a5d077e760_0_1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h2877a6a5d077e760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76333bd39d4b9d4e_1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h76333bd39d4b9d4e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h2877a6a5d077e760_0_1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h2877a6a5d077e760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hyperlink" Target="https://pixabay.com/pt" TargetMode="External"/><Relationship Id="rId7" Type="http://schemas.openxmlformats.org/officeDocument/2006/relationships/hyperlink" Target="https://rfm.p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rfm.pt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23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4196953" y="3997840"/>
            <a:ext cx="9894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200">
                <a:latin typeface="Poppins"/>
                <a:ea typeface="Poppins"/>
                <a:cs typeface="Poppins"/>
                <a:sym typeface="Poppins"/>
              </a:rPr>
              <a:t>Winx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4196953" y="5474606"/>
            <a:ext cx="9894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99" u="none" cap="none" strike="noStrike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Hackathon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5211738" y="6486450"/>
            <a:ext cx="7864500" cy="20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Gestão Inteligente de atrasos ferroviários</a:t>
            </a:r>
            <a:endParaRPr sz="3600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4" title="Copy of Trains and Railroads Minitheme by Slidesgo.pptx.png"/>
          <p:cNvPicPr preferRelativeResize="0"/>
          <p:nvPr/>
        </p:nvPicPr>
        <p:blipFill rotWithShape="1">
          <a:blip r:embed="rId3">
            <a:alphaModFix/>
          </a:blip>
          <a:srcRect b="29093" l="0" r="14850" t="0"/>
          <a:stretch/>
        </p:blipFill>
        <p:spPr>
          <a:xfrm>
            <a:off x="8069725" y="7333900"/>
            <a:ext cx="9194772" cy="191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title="DouroFlow Scenic Train Emble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5900" y="2361625"/>
            <a:ext cx="6936177" cy="462410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2407300" y="88442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Fonte: Chat GPT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/>
        </p:nvSpPr>
        <p:spPr>
          <a:xfrm>
            <a:off x="5849475" y="2369825"/>
            <a:ext cx="68781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73763"/>
                </a:solidFill>
                <a:latin typeface="Arimo"/>
                <a:ea typeface="Arimo"/>
                <a:cs typeface="Arimo"/>
                <a:sym typeface="Arimo"/>
              </a:rPr>
              <a:t>O problema</a:t>
            </a:r>
            <a:r>
              <a:rPr b="1" lang="en-US" sz="5000">
                <a:solidFill>
                  <a:srgbClr val="1C458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b="1" sz="5000">
              <a:solidFill>
                <a:srgbClr val="1C4587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99" name="Google Shape;99;p15"/>
          <p:cNvPicPr preferRelativeResize="0"/>
          <p:nvPr/>
        </p:nvPicPr>
        <p:blipFill rotWithShape="1">
          <a:blip r:embed="rId3">
            <a:alphaModFix/>
          </a:blip>
          <a:srcRect b="4901" l="0" r="9674" t="6147"/>
          <a:stretch/>
        </p:blipFill>
        <p:spPr>
          <a:xfrm>
            <a:off x="10073525" y="4318250"/>
            <a:ext cx="68781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11830400" y="82769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Fonte: </a:t>
            </a:r>
            <a:r>
              <a:rPr lang="en-US">
                <a:solidFill>
                  <a:schemeClr val="dk1"/>
                </a:solidFill>
              </a:rPr>
              <a:t>https://rotadodouro.pt</a:t>
            </a:r>
            <a:endParaRPr/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6035" y="4318250"/>
            <a:ext cx="6953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4039350" y="8338475"/>
            <a:ext cx="438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Fonte: https://www.infraestruturasdeportugal.pt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5949975" y="3310750"/>
            <a:ext cx="7357200" cy="12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Uma única linha para os dois sentidos</a:t>
            </a:r>
            <a:endParaRPr sz="32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/>
        </p:nvSpPr>
        <p:spPr>
          <a:xfrm>
            <a:off x="5783425" y="2673000"/>
            <a:ext cx="68781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73763"/>
                </a:solidFill>
                <a:latin typeface="Arimo"/>
                <a:ea typeface="Arimo"/>
                <a:cs typeface="Arimo"/>
                <a:sym typeface="Arimo"/>
              </a:rPr>
              <a:t>O problema</a:t>
            </a:r>
            <a:r>
              <a:rPr b="1" lang="en-US" sz="5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b="1" sz="5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109" name="Google Shape;109;p16"/>
          <p:cNvPicPr preferRelativeResize="0"/>
          <p:nvPr/>
        </p:nvPicPr>
        <p:blipFill rotWithShape="1">
          <a:blip r:embed="rId3">
            <a:alphaModFix/>
          </a:blip>
          <a:srcRect b="14464" l="8900" r="0" t="0"/>
          <a:stretch/>
        </p:blipFill>
        <p:spPr>
          <a:xfrm>
            <a:off x="10382250" y="4657075"/>
            <a:ext cx="5998250" cy="326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86400" y="855450"/>
            <a:ext cx="3346275" cy="334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/>
          <p:cNvPicPr preferRelativeResize="0"/>
          <p:nvPr/>
        </p:nvPicPr>
        <p:blipFill rotWithShape="1">
          <a:blip r:embed="rId5">
            <a:alphaModFix/>
          </a:blip>
          <a:srcRect b="6802" l="0" r="0" t="18123"/>
          <a:stretch/>
        </p:blipFill>
        <p:spPr>
          <a:xfrm>
            <a:off x="2694475" y="4617475"/>
            <a:ext cx="7020975" cy="334627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13165825" y="42807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Fonte: </a:t>
            </a:r>
            <a:r>
              <a:rPr lang="en-US">
                <a:uFill>
                  <a:noFill/>
                </a:uFill>
                <a:hlinkClick r:id="rId6"/>
              </a:rPr>
              <a:t>https://pixabay.com/p</a:t>
            </a:r>
            <a:r>
              <a:rPr lang="en-US"/>
              <a:t>t 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3937700" y="85530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4886750" y="81369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Fonte: Gemini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12233750" y="80318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Fonte: 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https://rfm.pt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7074550" y="3613450"/>
            <a:ext cx="4453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Atrasos acumulados</a:t>
            </a:r>
            <a:endParaRPr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6059275" y="2058575"/>
            <a:ext cx="68781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73763"/>
                </a:solidFill>
                <a:latin typeface="Arimo"/>
                <a:ea typeface="Arimo"/>
                <a:cs typeface="Arimo"/>
                <a:sym typeface="Arimo"/>
              </a:rPr>
              <a:t>O problema</a:t>
            </a:r>
            <a:r>
              <a:rPr b="1" lang="en-US" sz="5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b="1" sz="5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3937700" y="85530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4886750" y="81369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Fonte: Gemini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12233750" y="80318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Fonte: 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https://rfm.pt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7402975" y="2789150"/>
            <a:ext cx="4453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Atrasos acumulados</a:t>
            </a:r>
            <a:endParaRPr>
              <a:solidFill>
                <a:srgbClr val="073763"/>
              </a:solidFill>
            </a:endParaRPr>
          </a:p>
        </p:txBody>
      </p:sp>
      <p:pic>
        <p:nvPicPr>
          <p:cNvPr id="126" name="Google Shape;12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0531" y="3528049"/>
            <a:ext cx="12298370" cy="502497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5485513" y="8647425"/>
            <a:ext cx="828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Fonte: </a:t>
            </a:r>
            <a:r>
              <a:rPr lang="en-US">
                <a:solidFill>
                  <a:schemeClr val="dk1"/>
                </a:solidFill>
              </a:rPr>
              <a:t>https://comboios.ruicosta.pt</a:t>
            </a:r>
            <a:endParaRPr/>
          </a:p>
        </p:txBody>
      </p:sp>
      <p:pic>
        <p:nvPicPr>
          <p:cNvPr id="128" name="Google Shape;12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51950" y="1227425"/>
            <a:ext cx="2830275" cy="212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94075" y="2449000"/>
            <a:ext cx="2122700" cy="212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2325375" y="88182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Fonte: https://midiamax.com.br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/>
        </p:nvSpPr>
        <p:spPr>
          <a:xfrm>
            <a:off x="5704950" y="2388275"/>
            <a:ext cx="68781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73763"/>
                </a:solidFill>
                <a:latin typeface="Arimo"/>
                <a:ea typeface="Arimo"/>
                <a:cs typeface="Arimo"/>
                <a:sym typeface="Arimo"/>
              </a:rPr>
              <a:t>Como resolver este problema?</a:t>
            </a:r>
            <a:endParaRPr b="1" sz="5000">
              <a:solidFill>
                <a:srgbClr val="07376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3607075" y="4100100"/>
            <a:ext cx="12050700" cy="16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13759425" y="43739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8" title="ChatGPT Image Oct 24, 2026, 12_26_58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700" y="4984350"/>
            <a:ext cx="9664602" cy="386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7370550" y="88492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Fonte:ChatGPT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1" name="Google Shape;141;p18"/>
          <p:cNvPicPr preferRelativeResize="0"/>
          <p:nvPr/>
        </p:nvPicPr>
        <p:blipFill rotWithShape="1">
          <a:blip r:embed="rId4">
            <a:alphaModFix/>
          </a:blip>
          <a:srcRect b="41294" l="0" r="0" t="4479"/>
          <a:stretch/>
        </p:blipFill>
        <p:spPr>
          <a:xfrm>
            <a:off x="1472725" y="2715375"/>
            <a:ext cx="2254575" cy="217702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1311700" y="50843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Fonte: https://www.tmz.com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/>
        </p:nvSpPr>
        <p:spPr>
          <a:xfrm>
            <a:off x="5704950" y="2388275"/>
            <a:ext cx="68781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73763"/>
                </a:solidFill>
                <a:latin typeface="Arimo"/>
                <a:ea typeface="Arimo"/>
                <a:cs typeface="Arimo"/>
                <a:sym typeface="Arimo"/>
              </a:rPr>
              <a:t>Como funciona</a:t>
            </a:r>
            <a:endParaRPr b="1" sz="5000">
              <a:solidFill>
                <a:srgbClr val="07376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13759425" y="43739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13786050" y="43739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Fonte: https://pt.123rf.com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44575" y="1475024"/>
            <a:ext cx="2082951" cy="2670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9775" y="3723625"/>
            <a:ext cx="11077826" cy="283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/>
          <p:nvPr/>
        </p:nvSpPr>
        <p:spPr>
          <a:xfrm>
            <a:off x="13759425" y="43739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0"/>
          <p:cNvSpPr txBox="1"/>
          <p:nvPr/>
        </p:nvSpPr>
        <p:spPr>
          <a:xfrm>
            <a:off x="13786050" y="43739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Fonte: https://pt.123rf.com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8" name="Google Shape;15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44575" y="1475024"/>
            <a:ext cx="2082951" cy="2670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/>
          <p:cNvPicPr preferRelativeResize="0"/>
          <p:nvPr/>
        </p:nvPicPr>
        <p:blipFill rotWithShape="1">
          <a:blip r:embed="rId4">
            <a:alphaModFix/>
          </a:blip>
          <a:srcRect b="-1510" l="25155" r="0" t="1510"/>
          <a:stretch/>
        </p:blipFill>
        <p:spPr>
          <a:xfrm>
            <a:off x="2744300" y="2535950"/>
            <a:ext cx="10962400" cy="6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/>
        </p:nvSpPr>
        <p:spPr>
          <a:xfrm>
            <a:off x="5704950" y="2388275"/>
            <a:ext cx="68781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73763"/>
                </a:solidFill>
                <a:latin typeface="Arimo"/>
                <a:ea typeface="Arimo"/>
                <a:cs typeface="Arimo"/>
                <a:sym typeface="Arimo"/>
              </a:rPr>
              <a:t>Potencial em outros cenários</a:t>
            </a:r>
            <a:endParaRPr b="1" sz="5000">
              <a:solidFill>
                <a:srgbClr val="07376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65" name="Google Shape;165;p21"/>
          <p:cNvSpPr txBox="1"/>
          <p:nvPr/>
        </p:nvSpPr>
        <p:spPr>
          <a:xfrm>
            <a:off x="13759425" y="43739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1"/>
          <p:cNvSpPr txBox="1"/>
          <p:nvPr/>
        </p:nvSpPr>
        <p:spPr>
          <a:xfrm>
            <a:off x="7644975" y="5235900"/>
            <a:ext cx="3507900" cy="10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21"/>
          <p:cNvPicPr preferRelativeResize="0"/>
          <p:nvPr/>
        </p:nvPicPr>
        <p:blipFill rotWithShape="1">
          <a:blip r:embed="rId3">
            <a:alphaModFix/>
          </a:blip>
          <a:srcRect b="7985" l="0" r="0" t="18006"/>
          <a:stretch/>
        </p:blipFill>
        <p:spPr>
          <a:xfrm>
            <a:off x="2622325" y="4854525"/>
            <a:ext cx="6730776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1"/>
          <p:cNvSpPr txBox="1"/>
          <p:nvPr/>
        </p:nvSpPr>
        <p:spPr>
          <a:xfrm>
            <a:off x="3876675" y="8349300"/>
            <a:ext cx="390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Fonte: </a:t>
            </a:r>
            <a:r>
              <a:rPr b="1" lang="en-US">
                <a:solidFill>
                  <a:schemeClr val="dk1"/>
                </a:solidFill>
              </a:rPr>
              <a:t>https://www.roteirododouro.com</a:t>
            </a:r>
            <a:endParaRPr sz="100"/>
          </a:p>
        </p:txBody>
      </p:sp>
      <p:pic>
        <p:nvPicPr>
          <p:cNvPr id="169" name="Google Shape;16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33925" y="4854525"/>
            <a:ext cx="66675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1"/>
          <p:cNvSpPr txBox="1"/>
          <p:nvPr/>
        </p:nvSpPr>
        <p:spPr>
          <a:xfrm>
            <a:off x="11137275" y="8349300"/>
            <a:ext cx="406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Fontes: </a:t>
            </a:r>
            <a:r>
              <a:rPr b="1" lang="en-US">
                <a:solidFill>
                  <a:schemeClr val="dk1"/>
                </a:solidFill>
              </a:rPr>
              <a:t>https://jackwinsafety.com</a:t>
            </a:r>
            <a:endParaRPr/>
          </a:p>
        </p:txBody>
      </p:sp>
      <p:pic>
        <p:nvPicPr>
          <p:cNvPr id="171" name="Google Shape;17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97450" y="1361100"/>
            <a:ext cx="2608125" cy="260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 txBox="1"/>
          <p:nvPr/>
        </p:nvSpPr>
        <p:spPr>
          <a:xfrm>
            <a:off x="13628050" y="40672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https://gamebanana.com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/>
          <p:nvPr/>
        </p:nvSpPr>
        <p:spPr>
          <a:xfrm>
            <a:off x="5704950" y="2388275"/>
            <a:ext cx="68781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73763"/>
                </a:solidFill>
                <a:latin typeface="Arimo"/>
                <a:ea typeface="Arimo"/>
                <a:cs typeface="Arimo"/>
                <a:sym typeface="Arimo"/>
              </a:rPr>
              <a:t>Impacto</a:t>
            </a:r>
            <a:endParaRPr b="1" sz="5000">
              <a:solidFill>
                <a:srgbClr val="07376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13759425" y="43739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22"/>
          <p:cNvPicPr preferRelativeResize="0"/>
          <p:nvPr/>
        </p:nvPicPr>
        <p:blipFill rotWithShape="1">
          <a:blip r:embed="rId3">
            <a:alphaModFix/>
          </a:blip>
          <a:srcRect b="-2810" l="1630" r="-1630" t="2810"/>
          <a:stretch/>
        </p:blipFill>
        <p:spPr>
          <a:xfrm>
            <a:off x="2467900" y="3783350"/>
            <a:ext cx="5634149" cy="374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2"/>
          <p:cNvSpPr txBox="1"/>
          <p:nvPr/>
        </p:nvSpPr>
        <p:spPr>
          <a:xfrm>
            <a:off x="3599100" y="7450475"/>
            <a:ext cx="59385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Fonte: https://www.magnific.com/br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182" name="Google Shape;18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90900" y="3783350"/>
            <a:ext cx="5938499" cy="334649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2"/>
          <p:cNvSpPr txBox="1"/>
          <p:nvPr/>
        </p:nvSpPr>
        <p:spPr>
          <a:xfrm>
            <a:off x="12044100" y="3783350"/>
            <a:ext cx="3507900" cy="10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MENOS ATRASOS!!!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10881075" y="73426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Fonte: </a:t>
            </a:r>
            <a:r>
              <a:rPr lang="en-US">
                <a:solidFill>
                  <a:schemeClr val="dk1"/>
                </a:solidFill>
              </a:rPr>
              <a:t>https://extra.globo.com</a:t>
            </a:r>
            <a:endParaRPr sz="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/>
          <p:nvPr/>
        </p:nvSpPr>
        <p:spPr>
          <a:xfrm>
            <a:off x="2407300" y="8844200"/>
            <a:ext cx="41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Fonte: KikoIsHot https://www.instagram.com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90" name="Google Shape;19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1000" y="3429000"/>
            <a:ext cx="2786200" cy="496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3"/>
          <p:cNvSpPr txBox="1"/>
          <p:nvPr/>
        </p:nvSpPr>
        <p:spPr>
          <a:xfrm>
            <a:off x="4887300" y="2377975"/>
            <a:ext cx="773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/>
          <p:nvPr/>
        </p:nvSpPr>
        <p:spPr>
          <a:xfrm>
            <a:off x="6142775" y="2339550"/>
            <a:ext cx="63966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2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Obrigada!</a:t>
            </a:r>
            <a:endParaRPr>
              <a:solidFill>
                <a:srgbClr val="073763"/>
              </a:solidFill>
            </a:endParaRPr>
          </a:p>
        </p:txBody>
      </p:sp>
      <p:pic>
        <p:nvPicPr>
          <p:cNvPr id="197" name="Google Shape;197;p24" title="Untitled.png"/>
          <p:cNvPicPr preferRelativeResize="0"/>
          <p:nvPr/>
        </p:nvPicPr>
        <p:blipFill rotWithShape="1">
          <a:blip r:embed="rId3">
            <a:alphaModFix/>
          </a:blip>
          <a:srcRect b="3391" l="0" r="0" t="0"/>
          <a:stretch/>
        </p:blipFill>
        <p:spPr>
          <a:xfrm>
            <a:off x="10908875" y="4065675"/>
            <a:ext cx="4644700" cy="448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4"/>
          <p:cNvSpPr txBox="1"/>
          <p:nvPr/>
        </p:nvSpPr>
        <p:spPr>
          <a:xfrm>
            <a:off x="14072575" y="6522550"/>
            <a:ext cx="12051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Winx</a:t>
            </a:r>
            <a:endParaRPr sz="3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24" title="Fairy Team Hackathon Collabor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8250" y="4033350"/>
            <a:ext cx="6730575" cy="448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4"/>
          <p:cNvSpPr txBox="1"/>
          <p:nvPr/>
        </p:nvSpPr>
        <p:spPr>
          <a:xfrm>
            <a:off x="4425300" y="8613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Fonte:ChatGPT</a:t>
            </a:r>
            <a:endParaRPr/>
          </a:p>
        </p:txBody>
      </p:sp>
      <p:sp>
        <p:nvSpPr>
          <p:cNvPr id="201" name="Google Shape;201;p24"/>
          <p:cNvSpPr txBox="1"/>
          <p:nvPr/>
        </p:nvSpPr>
        <p:spPr>
          <a:xfrm>
            <a:off x="11792750" y="8613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Fonte:ChatGPT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/>
        </p:nvSpPr>
        <p:spPr>
          <a:xfrm>
            <a:off x="2407300" y="8844200"/>
            <a:ext cx="41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Fonte: KikoIsHot https://www.instagram.com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7" name="Google Shape;207;p25"/>
          <p:cNvSpPr txBox="1"/>
          <p:nvPr/>
        </p:nvSpPr>
        <p:spPr>
          <a:xfrm>
            <a:off x="4887300" y="2377975"/>
            <a:ext cx="773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5"/>
          <p:cNvSpPr txBox="1"/>
          <p:nvPr/>
        </p:nvSpPr>
        <p:spPr>
          <a:xfrm>
            <a:off x="2529750" y="2864075"/>
            <a:ext cx="132285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chemeClr val="dk1"/>
                </a:solidFill>
              </a:rPr>
              <a:t>https://github.com/MartaBuia/Hackathon-SciTeCh26/tree/main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